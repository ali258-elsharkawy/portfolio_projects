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8" r:id="rId9"/>
    <p:sldId id="267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E0"/>
    <a:srgbClr val="1F2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04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outlineViewPr>
    <p:cViewPr>
      <p:scale>
        <a:sx n="33" d="100"/>
        <a:sy n="33" d="100"/>
      </p:scale>
      <p:origin x="0" y="-97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2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53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0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60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9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7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8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11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4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3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6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83" r:id="rId6"/>
    <p:sldLayoutId id="2147483879" r:id="rId7"/>
    <p:sldLayoutId id="2147483880" r:id="rId8"/>
    <p:sldLayoutId id="2147483881" r:id="rId9"/>
    <p:sldLayoutId id="2147483882" r:id="rId10"/>
    <p:sldLayoutId id="21474838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478D78-E380-4AD7-DC3A-EA8C1F09B6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0E7C-177E-0F73-AFCB-E7C783B1F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Delivery Center Food &amp; Goods orders in Brazil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7086-D582-8486-A801-0AABEC520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676775"/>
            <a:ext cx="7588155" cy="531253"/>
          </a:xfrm>
        </p:spPr>
        <p:txBody>
          <a:bodyPr>
            <a:normAutofit fontScale="85000" lnSpcReduction="10000"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From Raw Data Chaos to an Interactive Operational Dashboard</a:t>
            </a:r>
          </a:p>
        </p:txBody>
      </p:sp>
    </p:spTree>
    <p:extLst>
      <p:ext uri="{BB962C8B-B14F-4D97-AF65-F5344CB8AC3E}">
        <p14:creationId xmlns:p14="http://schemas.microsoft.com/office/powerpoint/2010/main" val="482577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7D05E-9700-978F-07B2-9068555F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54" y="1498344"/>
            <a:ext cx="4621553" cy="6511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b="1" kern="1200" dirty="0">
                <a:solidFill>
                  <a:srgbClr val="E0E0E0"/>
                </a:solidFill>
                <a:latin typeface="+mj-lt"/>
                <a:ea typeface="+mj-ea"/>
                <a:cs typeface="+mj-cs"/>
              </a:rPr>
              <a:t>Data Trust &amp; Cleaning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C3C47494-F0B7-0210-3E3F-C51431D96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9" y="2665544"/>
            <a:ext cx="4621553" cy="26941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🚩 The Problem:</a:t>
            </a: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~14% of the data (45K+ rows) contained unrealistic values</a:t>
            </a: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🛠️ The Fix:</a:t>
            </a: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Applied validation rules to remove extreme outliers and incorrect records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.</a:t>
            </a: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🎯 The Result:</a:t>
            </a:r>
          </a:p>
          <a:p>
            <a:pPr marR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Achieved ~86% clean data, creating a reliable foundation for all KPIs and analysis.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F316A7-8CA2-7969-196F-C1B15885C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6" t="2124"/>
          <a:stretch>
            <a:fillRect/>
          </a:stretch>
        </p:blipFill>
        <p:spPr>
          <a:xfrm>
            <a:off x="5691261" y="1241000"/>
            <a:ext cx="5837780" cy="4375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B9B25E-CA2A-6CDC-8BFC-67D392024D1E}"/>
              </a:ext>
            </a:extLst>
          </p:cNvPr>
          <p:cNvSpPr txBox="1"/>
          <p:nvPr/>
        </p:nvSpPr>
        <p:spPr>
          <a:xfrm>
            <a:off x="3380484" y="146716"/>
            <a:ext cx="462155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Cleaning the data before trusting any KPI</a:t>
            </a:r>
          </a:p>
        </p:txBody>
      </p:sp>
    </p:spTree>
    <p:extLst>
      <p:ext uri="{BB962C8B-B14F-4D97-AF65-F5344CB8AC3E}">
        <p14:creationId xmlns:p14="http://schemas.microsoft.com/office/powerpoint/2010/main" val="4110669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E100F8-2CE9-BFA3-3048-62977C60D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26" t="4051" r="754" b="7275"/>
          <a:stretch>
            <a:fillRect/>
          </a:stretch>
        </p:blipFill>
        <p:spPr>
          <a:xfrm>
            <a:off x="419504" y="716814"/>
            <a:ext cx="10496145" cy="1473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A40AC2-6984-987B-F16F-E4250994A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3" t="1344" r="388"/>
          <a:stretch>
            <a:fillRect/>
          </a:stretch>
        </p:blipFill>
        <p:spPr>
          <a:xfrm>
            <a:off x="6524423" y="2705990"/>
            <a:ext cx="4819650" cy="3317132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93412EC7-A928-9626-DCE3-B534F0BB2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914579"/>
            <a:ext cx="528657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📈 Growth: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  Revenue and orders are going up, showing steady business growth.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⚙️ Efficiency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sz="1400" b="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altLang="en-US" sz="1400" b="0" dirty="0">
                <a:solidFill>
                  <a:srgbClr val="E0E0E0"/>
                </a:solidFill>
                <a:latin typeface="Arial" panose="020B0604020202020204" pitchFamily="34" charset="0"/>
              </a:rPr>
              <a:t> Lead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time and transit time are going down, so deliveries are getting faster.</a:t>
            </a:r>
            <a:br>
              <a:rPr lang="en-US" altLang="en-US" sz="1400" b="0" dirty="0">
                <a:solidFill>
                  <a:srgbClr val="E0E0E0"/>
                </a:solidFill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🎯 Service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● SLA is staying high, which means performance is consistent.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🔍 Data view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Arial" panose="020B0604020202020204" pitchFamily="34" charset="0"/>
              </a:rPr>
              <a:t>● Using a 3-week average to reduce daily noise and see the real trend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72EAE-5995-D30B-DB2E-69154F352AD3}"/>
              </a:ext>
            </a:extLst>
          </p:cNvPr>
          <p:cNvSpPr txBox="1"/>
          <p:nvPr/>
        </p:nvSpPr>
        <p:spPr>
          <a:xfrm>
            <a:off x="3447968" y="170136"/>
            <a:ext cx="529606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At-a-glance: Business performance is improving</a:t>
            </a:r>
          </a:p>
        </p:txBody>
      </p:sp>
    </p:spTree>
    <p:extLst>
      <p:ext uri="{BB962C8B-B14F-4D97-AF65-F5344CB8AC3E}">
        <p14:creationId xmlns:p14="http://schemas.microsoft.com/office/powerpoint/2010/main" val="3758638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F8DC9-3A86-1536-3C04-48865C71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17AE36-8230-503C-B8FA-F16F90A7A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34" r="1059" b="5566"/>
          <a:stretch>
            <a:fillRect/>
          </a:stretch>
        </p:blipFill>
        <p:spPr>
          <a:xfrm>
            <a:off x="1376362" y="4143375"/>
            <a:ext cx="9339263" cy="241935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DE7FD14-CC0C-CE1E-A5FC-B2578B4F8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102795"/>
            <a:ext cx="60102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📈 Demand Pattern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● Order volume changes within the week, with clear peak days.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</a:endParaRP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⏰ Peak Hours</a:t>
            </a:r>
            <a:br>
              <a:rPr lang="en-US" altLang="en-US" sz="1400" b="0" dirty="0">
                <a:solidFill>
                  <a:srgbClr val="E0E0E0"/>
                </a:solidFill>
              </a:rPr>
            </a:br>
            <a:r>
              <a:rPr lang="en-US" altLang="en-US" sz="1400" b="0" dirty="0">
                <a:solidFill>
                  <a:srgbClr val="E0E0E0"/>
                </a:solidFill>
              </a:rPr>
              <a:t>● Most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orders are concentrated in specific hours during the day.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🔥 Operational Load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● Peak days and peak hours combined create the highest pressure on operations.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</a:rPr>
              <a:t>🔍These peaks are our main focus points for stuff and resources planning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FE204-24D1-0F33-507B-E583CFC3C7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30"/>
          <a:stretch>
            <a:fillRect/>
          </a:stretch>
        </p:blipFill>
        <p:spPr>
          <a:xfrm>
            <a:off x="6886622" y="1002841"/>
            <a:ext cx="4595813" cy="2962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A4EA7F-9233-BD82-5473-44E8E26D0A29}"/>
              </a:ext>
            </a:extLst>
          </p:cNvPr>
          <p:cNvSpPr txBox="1"/>
          <p:nvPr/>
        </p:nvSpPr>
        <p:spPr>
          <a:xfrm>
            <a:off x="3935404" y="275001"/>
            <a:ext cx="4221177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When and where operations get busy</a:t>
            </a:r>
          </a:p>
        </p:txBody>
      </p:sp>
    </p:spTree>
    <p:extLst>
      <p:ext uri="{BB962C8B-B14F-4D97-AF65-F5344CB8AC3E}">
        <p14:creationId xmlns:p14="http://schemas.microsoft.com/office/powerpoint/2010/main" val="270119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2571C-E20A-61CA-C43B-7E06D52E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0440451-FBAE-28A6-4261-753CA45AC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" t="5360" r="1015" b="5743"/>
          <a:stretch>
            <a:fillRect/>
          </a:stretch>
        </p:blipFill>
        <p:spPr>
          <a:xfrm>
            <a:off x="66674" y="4838700"/>
            <a:ext cx="12001501" cy="1571625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id="{0048B06B-E94E-AB23-9C82-1D94C0026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34" y="816154"/>
            <a:ext cx="53800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🎯 Focus Area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Analysis drills down to store level to find underperforming locations.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 ⚠️ Critical Stores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A small group of high-volume stores shows very low SLA and needs immediate attention.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 ⏱️ SLA threshold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Goods orders have a lower SLA threshold, but some stores still perform far below target.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Improving these stores can significantly boost overall performance.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764197E-0D47-0F96-26B6-6CEF38523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222" y="816154"/>
            <a:ext cx="4101220" cy="226815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FFBA4BC-FE45-A1EF-DB5F-77EA1309F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1846" y="3163429"/>
            <a:ext cx="3697973" cy="17591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52748-7C3D-15DF-236A-16A0E005E457}"/>
              </a:ext>
            </a:extLst>
          </p:cNvPr>
          <p:cNvSpPr txBox="1"/>
          <p:nvPr/>
        </p:nvSpPr>
        <p:spPr>
          <a:xfrm>
            <a:off x="3533396" y="218851"/>
            <a:ext cx="506805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Finding the stores that need immediate action</a:t>
            </a:r>
          </a:p>
        </p:txBody>
      </p:sp>
    </p:spTree>
    <p:extLst>
      <p:ext uri="{BB962C8B-B14F-4D97-AF65-F5344CB8AC3E}">
        <p14:creationId xmlns:p14="http://schemas.microsoft.com/office/powerpoint/2010/main" val="201767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AA1ED-C6AD-B48D-734D-8B5CEADE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389E-AAB3-49DD-38A3-42CB829E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326269"/>
            <a:ext cx="3826002" cy="3645906"/>
          </a:xfrm>
        </p:spPr>
        <p:txBody>
          <a:bodyPr>
            <a:noAutofit/>
          </a:bodyPr>
          <a:lstStyle/>
          <a:p>
            <a:r>
              <a:rPr lang="en-US" sz="1400" dirty="0">
                <a:solidFill>
                  <a:srgbClr val="E0E0E0"/>
                </a:solidFill>
              </a:rPr>
              <a:t>🤝 Driver Utilization Issue:</a:t>
            </a:r>
            <a:br>
              <a:rPr lang="en-US" sz="1400" dirty="0">
                <a:solidFill>
                  <a:srgbClr val="E0E0E0"/>
                </a:solidFill>
              </a:rPr>
            </a:b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US" sz="1400" dirty="0">
                <a:solidFill>
                  <a:srgbClr val="E0E0E0"/>
                </a:solidFill>
              </a:rPr>
              <a:t>Overloaded: 111 drivers (10+ long trips &gt;8km)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US" sz="1400" dirty="0">
                <a:solidFill>
                  <a:srgbClr val="E0E0E0"/>
                </a:solidFill>
              </a:rPr>
              <a:t>Underused: 197 contracted  drivers (≤5 trips in 3 months)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</a:rPr>
              <a:t>→ Unbalanced allocation</a:t>
            </a:r>
            <a:br>
              <a:rPr lang="en-US" sz="1400" dirty="0">
                <a:solidFill>
                  <a:srgbClr val="E0E0E0"/>
                </a:solidFill>
              </a:rPr>
            </a:b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</a:rPr>
              <a:t>🐢 Speed Constraint:</a:t>
            </a:r>
            <a:br>
              <a:rPr lang="en-US" sz="1400" dirty="0">
                <a:solidFill>
                  <a:srgbClr val="E0E0E0"/>
                </a:solidFill>
              </a:rPr>
            </a:b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US" sz="1400" dirty="0">
                <a:solidFill>
                  <a:srgbClr val="E0E0E0"/>
                </a:solidFill>
              </a:rPr>
              <a:t>Avg speed: 9 km/h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US" sz="1400" dirty="0">
                <a:solidFill>
                  <a:srgbClr val="E0E0E0"/>
                </a:solidFill>
              </a:rPr>
              <a:t>Only 10% of trips &gt; 28 km/h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</a:rPr>
              <a:t>→ Heavy traffic impact</a:t>
            </a:r>
            <a:br>
              <a:rPr lang="en-US" sz="1400" dirty="0">
                <a:solidFill>
                  <a:srgbClr val="E0E0E0"/>
                </a:solidFill>
              </a:rPr>
            </a:b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</a:rPr>
              <a:t>🎯 Performance Gap: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US" sz="1400" dirty="0">
                <a:solidFill>
                  <a:srgbClr val="E0E0E0"/>
                </a:solidFill>
              </a:rPr>
              <a:t>Top drivers: ~99% SLA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en-US" sz="1400" dirty="0">
                <a:solidFill>
                  <a:srgbClr val="E0E0E0"/>
                </a:solidFill>
              </a:rPr>
              <a:t>Lowest: near 0%</a:t>
            </a:r>
            <a:br>
              <a:rPr lang="en-US" sz="1400" dirty="0">
                <a:solidFill>
                  <a:srgbClr val="E0E0E0"/>
                </a:solidFill>
              </a:rPr>
            </a:br>
            <a:r>
              <a:rPr lang="en-US" sz="1400" dirty="0">
                <a:solidFill>
                  <a:srgbClr val="E0E0E0"/>
                </a:solidFill>
              </a:rPr>
              <a:t>→ Need training + better routing</a:t>
            </a:r>
            <a:br>
              <a:rPr lang="en-US" sz="1400" dirty="0">
                <a:solidFill>
                  <a:srgbClr val="E0E0E0"/>
                </a:solidFill>
              </a:rPr>
            </a:br>
            <a:endParaRPr lang="en-US" sz="1400" dirty="0">
              <a:solidFill>
                <a:srgbClr val="E0E0E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054239-A467-0F26-C2E9-0F9C1C2F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" t="2429" r="267" b="2024"/>
          <a:stretch>
            <a:fillRect/>
          </a:stretch>
        </p:blipFill>
        <p:spPr>
          <a:xfrm>
            <a:off x="4854703" y="3724275"/>
            <a:ext cx="6953249" cy="2247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82279D-1EA4-302F-6D1B-ED72E877C190}"/>
              </a:ext>
            </a:extLst>
          </p:cNvPr>
          <p:cNvSpPr txBox="1"/>
          <p:nvPr/>
        </p:nvSpPr>
        <p:spPr>
          <a:xfrm>
            <a:off x="2367873" y="114794"/>
            <a:ext cx="7456254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0E0E0"/>
                </a:solidFill>
              </a:rPr>
              <a:t>You Don’t Need More Drivers. You Need Better Allocation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A8E28E-5824-3FE0-56F9-06862FFD3409}"/>
              </a:ext>
            </a:extLst>
          </p:cNvPr>
          <p:cNvSpPr txBox="1"/>
          <p:nvPr/>
        </p:nvSpPr>
        <p:spPr>
          <a:xfrm>
            <a:off x="384049" y="856188"/>
            <a:ext cx="6632388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0E0E0"/>
                </a:solidFill>
              </a:rPr>
              <a:t>Imbalance, slow speeds, and performance gaps are hurting delivery efficiency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C66939-69D6-9CEB-7947-1195B38D97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2" b="4458"/>
          <a:stretch>
            <a:fillRect/>
          </a:stretch>
        </p:blipFill>
        <p:spPr>
          <a:xfrm>
            <a:off x="4854702" y="1520426"/>
            <a:ext cx="6953249" cy="18473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2EBA873-421F-BC79-6FAF-40EEC154D65C}"/>
              </a:ext>
            </a:extLst>
          </p:cNvPr>
          <p:cNvSpPr txBox="1"/>
          <p:nvPr/>
        </p:nvSpPr>
        <p:spPr>
          <a:xfrm>
            <a:off x="1338404" y="6328636"/>
            <a:ext cx="951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→ Imbalance + low speed = longer delivery times, higher cost, and lower SLA reliability</a:t>
            </a:r>
          </a:p>
        </p:txBody>
      </p:sp>
    </p:spTree>
    <p:extLst>
      <p:ext uri="{BB962C8B-B14F-4D97-AF65-F5344CB8AC3E}">
        <p14:creationId xmlns:p14="http://schemas.microsoft.com/office/powerpoint/2010/main" val="3854318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1C4BA-BB0C-2F6D-07A1-35796967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EB46-03B0-5709-6600-5D3459C6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08" y="2410344"/>
            <a:ext cx="3527804" cy="758369"/>
          </a:xfrm>
        </p:spPr>
        <p:txBody>
          <a:bodyPr>
            <a:normAutofit/>
          </a:bodyPr>
          <a:lstStyle/>
          <a:p>
            <a:r>
              <a:rPr lang="en-US" sz="1400" b="0" dirty="0"/>
              <a:t>⚠️ </a:t>
            </a:r>
            <a:r>
              <a:rPr lang="en-US" sz="1400" b="0" dirty="0">
                <a:solidFill>
                  <a:srgbClr val="E0E0E0"/>
                </a:solidFill>
              </a:rPr>
              <a:t>Trips above 8km show significantly lower speeds and a sharp decline in SLA performance.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FC8716-DB32-93D3-90FB-CABEC001A6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6" b="1931"/>
          <a:stretch>
            <a:fillRect/>
          </a:stretch>
        </p:blipFill>
        <p:spPr>
          <a:xfrm>
            <a:off x="7111671" y="2952181"/>
            <a:ext cx="2018638" cy="18702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25FA0F-E890-80EB-FF6E-347FA97618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1" t="2299" r="2675" b="1723"/>
          <a:stretch>
            <a:fillRect/>
          </a:stretch>
        </p:blipFill>
        <p:spPr>
          <a:xfrm>
            <a:off x="9294287" y="2933861"/>
            <a:ext cx="2018638" cy="18885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A8DC0-26DA-7556-A251-1328DE5CA964}"/>
              </a:ext>
            </a:extLst>
          </p:cNvPr>
          <p:cNvSpPr txBox="1"/>
          <p:nvPr/>
        </p:nvSpPr>
        <p:spPr>
          <a:xfrm>
            <a:off x="2011980" y="229115"/>
            <a:ext cx="7187438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0E0E0"/>
                </a:solidFill>
              </a:rPr>
              <a:t>Less than 2% of orders… but they drag performance down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6CA5DD-A473-A9CD-1552-40A830ACDCFC}"/>
              </a:ext>
            </a:extLst>
          </p:cNvPr>
          <p:cNvSpPr txBox="1"/>
          <p:nvPr/>
        </p:nvSpPr>
        <p:spPr>
          <a:xfrm>
            <a:off x="543208" y="788228"/>
            <a:ext cx="1012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Overall performance looks stable, but long-distance trips significantly underperform.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848DE-E6FB-4E45-EC63-1B9CB280CC3D}"/>
              </a:ext>
            </a:extLst>
          </p:cNvPr>
          <p:cNvSpPr txBox="1"/>
          <p:nvPr/>
        </p:nvSpPr>
        <p:spPr>
          <a:xfrm>
            <a:off x="543208" y="3689288"/>
            <a:ext cx="35278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⚠️</a:t>
            </a:r>
            <a:r>
              <a:rPr lang="en-US" sz="1400" dirty="0">
                <a:solidFill>
                  <a:srgbClr val="E0E0E0"/>
                </a:solidFill>
              </a:rPr>
              <a:t> Long-distance trips also tend to increase cost per km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8D8EE-DC69-F7F0-322A-8C0D3A7C3BFC}"/>
              </a:ext>
            </a:extLst>
          </p:cNvPr>
          <p:cNvSpPr txBox="1"/>
          <p:nvPr/>
        </p:nvSpPr>
        <p:spPr>
          <a:xfrm>
            <a:off x="3863189" y="6259553"/>
            <a:ext cx="4465621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But not all deliveries behave the same…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BFD08-C578-B71F-7313-4E9039E8D7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636"/>
          <a:stretch>
            <a:fillRect/>
          </a:stretch>
        </p:blipFill>
        <p:spPr>
          <a:xfrm>
            <a:off x="4381884" y="3002043"/>
            <a:ext cx="2565809" cy="1712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6E1589-D199-A456-968B-F9D3A9486D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2" t="6598" r="1138" b="1406"/>
          <a:stretch>
            <a:fillRect/>
          </a:stretch>
        </p:blipFill>
        <p:spPr>
          <a:xfrm>
            <a:off x="4869160" y="1336009"/>
            <a:ext cx="5732448" cy="136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65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9029B6-9742-D0D1-FD21-8675B1C0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D25965B-D47C-0176-DD23-FD580C031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46"/>
          <a:stretch>
            <a:fillRect/>
          </a:stretch>
        </p:blipFill>
        <p:spPr>
          <a:xfrm>
            <a:off x="9042400" y="3176085"/>
            <a:ext cx="1964417" cy="162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A8B02B-83F4-3A46-FE36-32F73C2C8B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746" b="1843"/>
          <a:stretch>
            <a:fillRect/>
          </a:stretch>
        </p:blipFill>
        <p:spPr>
          <a:xfrm>
            <a:off x="3398981" y="3176085"/>
            <a:ext cx="1991452" cy="16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F25D33-8868-345E-75A3-B0ED653DACB3}"/>
              </a:ext>
            </a:extLst>
          </p:cNvPr>
          <p:cNvSpPr txBox="1"/>
          <p:nvPr/>
        </p:nvSpPr>
        <p:spPr>
          <a:xfrm>
            <a:off x="1773380" y="170812"/>
            <a:ext cx="86452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Averages are hiding the problem: Goods underperform across service and cost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F430DC-DB98-C335-3D82-1D852459F9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9" t="4602" r="1759" b="4511"/>
          <a:stretch>
            <a:fillRect/>
          </a:stretch>
        </p:blipFill>
        <p:spPr>
          <a:xfrm>
            <a:off x="1450807" y="1131721"/>
            <a:ext cx="3905296" cy="13063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81BB1E-9427-8BC1-0B8E-EE6AC686E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85" t="7373" r="1189" b="8119"/>
          <a:stretch>
            <a:fillRect/>
          </a:stretch>
        </p:blipFill>
        <p:spPr>
          <a:xfrm>
            <a:off x="6835899" y="1146368"/>
            <a:ext cx="3905294" cy="13180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642223E-8ADA-7890-3A53-ED8149E3EF3B}"/>
              </a:ext>
            </a:extLst>
          </p:cNvPr>
          <p:cNvSpPr txBox="1"/>
          <p:nvPr/>
        </p:nvSpPr>
        <p:spPr>
          <a:xfrm>
            <a:off x="2690386" y="2533212"/>
            <a:ext cx="6947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💡</a:t>
            </a:r>
            <a:r>
              <a:rPr lang="en-US" sz="1600" dirty="0">
                <a:solidFill>
                  <a:srgbClr val="E0E0E0"/>
                </a:solidFill>
              </a:rPr>
              <a:t> Goods orders are longer and slower, resulting in lower overall SLA.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8CE122-8FD7-FEE5-AD3A-BC3BEB8FB613}"/>
              </a:ext>
            </a:extLst>
          </p:cNvPr>
          <p:cNvSpPr txBox="1"/>
          <p:nvPr/>
        </p:nvSpPr>
        <p:spPr>
          <a:xfrm>
            <a:off x="2082959" y="5368633"/>
            <a:ext cx="80260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💡  </a:t>
            </a:r>
            <a:r>
              <a:rPr lang="en-US" sz="1400" dirty="0">
                <a:solidFill>
                  <a:srgbClr val="E0E0E0"/>
                </a:solidFill>
                <a:latin typeface="+mj-lt"/>
              </a:rPr>
              <a:t>Food maintains high SLA even at long distances, while Goods drops sharply beyond 8km.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E0E0E0"/>
                </a:solidFill>
                <a:latin typeface="+mj-lt"/>
              </a:rPr>
              <a:t>💰 Cost per km increases with distance for both—but Goods is consistently higher</a:t>
            </a:r>
            <a:endParaRPr lang="en-US" altLang="en-US" sz="1400" b="1" dirty="0">
              <a:solidFill>
                <a:srgbClr val="E0E0E0"/>
              </a:solidFill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E0E0E0"/>
                </a:solidFill>
                <a:latin typeface="+mj-lt"/>
              </a:rPr>
              <a:t>→ Indicates additional operational delays and higher delivery cost for “Goods” segment.</a:t>
            </a:r>
            <a:endParaRPr lang="en-US" altLang="en-US" sz="1400" dirty="0">
              <a:solidFill>
                <a:srgbClr val="E0E0E0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44DF02-DEE8-0590-696A-6E6B05D33948}"/>
              </a:ext>
            </a:extLst>
          </p:cNvPr>
          <p:cNvSpPr txBox="1"/>
          <p:nvPr/>
        </p:nvSpPr>
        <p:spPr>
          <a:xfrm>
            <a:off x="777959" y="6304002"/>
            <a:ext cx="1048116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0E0E0"/>
                </a:solidFill>
              </a:rPr>
              <a:t>Goods underperform in both service and cost—even with lower volume and higher SLA threshold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817DD3-BA1A-8C6A-1924-A71CE9F86C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84354" y="3176085"/>
            <a:ext cx="2514627" cy="162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5FAB1B-6295-1A0E-3C39-13BB408B01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982"/>
          <a:stretch>
            <a:fillRect/>
          </a:stretch>
        </p:blipFill>
        <p:spPr>
          <a:xfrm>
            <a:off x="6509938" y="3176085"/>
            <a:ext cx="2532462" cy="162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6CDDA55-F05A-0791-163F-BBB63EC893D8}"/>
              </a:ext>
            </a:extLst>
          </p:cNvPr>
          <p:cNvSpPr txBox="1"/>
          <p:nvPr/>
        </p:nvSpPr>
        <p:spPr>
          <a:xfrm>
            <a:off x="777959" y="698042"/>
            <a:ext cx="6744882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E0E0E0"/>
                </a:solidFill>
              </a:rPr>
              <a:t>Food represents ~95% of orders, while Goods accounts for only ~5%</a:t>
            </a:r>
          </a:p>
        </p:txBody>
      </p:sp>
    </p:spTree>
    <p:extLst>
      <p:ext uri="{BB962C8B-B14F-4D97-AF65-F5344CB8AC3E}">
        <p14:creationId xmlns:p14="http://schemas.microsoft.com/office/powerpoint/2010/main" val="11784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02DB2-3AE8-4B2E-1484-371FB5BA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56AE67-A658-879A-D420-318BB919A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3" t="10929" r="6724" b="9381"/>
          <a:stretch>
            <a:fillRect/>
          </a:stretch>
        </p:blipFill>
        <p:spPr>
          <a:xfrm>
            <a:off x="6734375" y="3215207"/>
            <a:ext cx="4618671" cy="310411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A1219C45-BDDF-DCE2-C4A0-A376A6A6B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01440"/>
            <a:ext cx="8837676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🦸‍♂️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The Hero Score Formula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 Ranks drivers based on speed, order volume, and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 Dynamic Cutoffs: Sets lower gates for Goods (40 orders / 75% SLA) vs. Food (100 orders / 90% SLA).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→ Highlights true operational heroes, not just lucky drivers.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E0E0E0"/>
              </a:solidFill>
              <a:effectLst/>
              <a:latin typeface="+mj-lt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19C092CE-34FA-F478-9D16-D27D2F597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429" y="1775329"/>
            <a:ext cx="4842617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E0E0E0"/>
                </a:solidFill>
              </a:rPr>
              <a:t>📈 Dynamic Week-over-Week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Google Sans Text"/>
              </a:rPr>
              <a:t> Automatically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+mj-lt"/>
              </a:rPr>
              <a:t>detects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E0E0E0"/>
                </a:solidFill>
                <a:effectLst/>
                <a:latin typeface="Google Sans Text"/>
              </a:rPr>
              <a:t> the current week or a user's selected filter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400" dirty="0">
                <a:solidFill>
                  <a:srgbClr val="E0E0E0"/>
                </a:solidFill>
              </a:rPr>
              <a:t> Compares current volume to the previous week's performance.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rgbClr val="E0E0E0"/>
                </a:solidFill>
                <a:latin typeface="Google Sans Text"/>
              </a:rPr>
              <a:t>→  </a:t>
            </a:r>
            <a:r>
              <a:rPr lang="en-US" sz="1400" b="1" dirty="0">
                <a:solidFill>
                  <a:srgbClr val="E0E0E0"/>
                </a:solidFill>
              </a:rPr>
              <a:t>Gives managers a real-time pulse on growth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9E556-FB4C-671F-969A-87C04933C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7" t="5149" r="6318" b="5215"/>
          <a:stretch>
            <a:fillRect/>
          </a:stretch>
        </p:blipFill>
        <p:spPr>
          <a:xfrm>
            <a:off x="428427" y="1289603"/>
            <a:ext cx="5029200" cy="52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0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53A8F1-D5AF-99D5-E1B1-89AF819FCD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4777B-1729-541F-36FE-F16B0211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077" y="119701"/>
            <a:ext cx="8518143" cy="514952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en-US" sz="3200" b="0" dirty="0">
                <a:solidFill>
                  <a:srgbClr val="E0E0E0"/>
                </a:solidFill>
              </a:rPr>
              <a:t>key insights and business recommendations</a:t>
            </a:r>
            <a:endParaRPr lang="en-US" sz="3200" dirty="0">
              <a:solidFill>
                <a:srgbClr val="E0E0E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790-2EA7-31C8-70E0-7A34D9149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625" y="1502876"/>
            <a:ext cx="4669875" cy="4981051"/>
          </a:xfrm>
          <a:ln>
            <a:solidFill>
              <a:schemeClr val="bg1"/>
            </a:solidFill>
          </a:ln>
        </p:spPr>
        <p:txBody>
          <a:bodyPr lIns="0" tIns="0" rIns="0" bIns="0">
            <a:normAutofit/>
          </a:bodyPr>
          <a:lstStyle/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Integrity Gaps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~14% of raw data contained noise; 90%+ of some timestamps columns were missing. Cleaning was critical to trust KPIs</a:t>
            </a:r>
          </a:p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Volatile Demand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Order volume is unevenly distributed, creating extreme pressure during peak windows.</a:t>
            </a:r>
          </a:p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Failing Stores: 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few very busy stores are failing to deliver on time (4 of them below 30% success)</a:t>
            </a:r>
          </a:p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"Goods" Problem: 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Even with only ~5% contribution, “Good” deliveries are pulling our overall KPIs down. Most of under performing stores are “Goods” stores, lowest 5 are all Goods type (4 of them running with less than 30% SLA. The problem is systematic, not few outliers</a:t>
            </a:r>
          </a:p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 issue: "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Goods" stores tend to have lower SLA, higher distance and higher cost per Km comparing to “food“ segment </a:t>
            </a:r>
          </a:p>
          <a:p>
            <a:pPr algn="ctr"/>
            <a:endParaRPr lang="en-US" sz="1200" b="1" dirty="0">
              <a:solidFill>
                <a:srgbClr val="E0E0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Overall, performance issues are not everywhere—they are focused on specific segments, stores, and time periods.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E6E78-C2E1-F8DD-BFF1-85D00EAA4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13150" y="1498349"/>
            <a:ext cx="6248226" cy="4981051"/>
          </a:xfrm>
          <a:ln>
            <a:solidFill>
              <a:schemeClr val="bg1"/>
            </a:solidFill>
          </a:ln>
        </p:spPr>
        <p:txBody>
          <a:bodyPr bIns="0">
            <a:noAutofit/>
          </a:bodyPr>
          <a:lstStyle/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Fix Data Recording System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Improving our recording system will give us a stronger foundation for analysis and better decision-making.</a:t>
            </a:r>
          </a:p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 Planning for Peak Demand: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Instead of only looking at total resources available, we need to use them more dynamically to balance these fluctuations. A proactive plan will help us stay prepared during peak periods and maintain consistent performance.</a:t>
            </a:r>
          </a:p>
          <a:p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 the Goods Segment Urgently: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its poor performance is dragging down our KPIs, customer satisfaction, and reputation. It is also consuming money, time, staff, and effort that could be used elsewhere.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need to act quickly based on order volume: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High-volume stores: invest in improving performance to meet service level agreements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Low-volume stores: consider closing them and reallocating resources to higher-performing, more profitable store</a:t>
            </a:r>
          </a:p>
          <a:p>
            <a:endParaRPr lang="en-US" sz="1200" b="1" dirty="0">
              <a:solidFill>
                <a:srgbClr val="E0E0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1200" b="1" dirty="0">
              <a:solidFill>
                <a:srgbClr val="E0E0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1200" b="1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Small issues in specific areas can have a big impact on overall performance</a:t>
            </a:r>
            <a:r>
              <a:rPr lang="en-US" sz="1200" dirty="0">
                <a:solidFill>
                  <a:srgbClr val="E0E0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9294BE-3EB0-49D3-A5B2-83C8717C279D}"/>
              </a:ext>
            </a:extLst>
          </p:cNvPr>
          <p:cNvSpPr txBox="1"/>
          <p:nvPr/>
        </p:nvSpPr>
        <p:spPr>
          <a:xfrm>
            <a:off x="330625" y="1129017"/>
            <a:ext cx="466987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0E0E0"/>
                </a:solidFill>
              </a:rPr>
              <a:t>key 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39E1A-4C05-DB4C-7AC5-CEBD9DC017CE}"/>
              </a:ext>
            </a:extLst>
          </p:cNvPr>
          <p:cNvSpPr txBox="1"/>
          <p:nvPr/>
        </p:nvSpPr>
        <p:spPr>
          <a:xfrm>
            <a:off x="5613149" y="1126351"/>
            <a:ext cx="624822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0E0E0"/>
                </a:solidFill>
              </a:rPr>
              <a:t>Business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219492926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1037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Google Sans Text</vt:lpstr>
      <vt:lpstr>Neue Haas Grotesk Text Pro</vt:lpstr>
      <vt:lpstr>Times New Roman</vt:lpstr>
      <vt:lpstr>VanillaVTI</vt:lpstr>
      <vt:lpstr>Delivery Center Food &amp; Goods orders in Brazil</vt:lpstr>
      <vt:lpstr>Data Trust &amp; Cleaning</vt:lpstr>
      <vt:lpstr>📈 Growth: ●  Revenue and orders are going up, showing steady business growth.  ⚙️ Efficiency ● Lead time and transit time are going down, so deliveries are getting faster.  🎯 Service ● SLA is staying high, which means performance is consistent.  🔍 Data view ● Using a 3-week average to reduce daily noise and see the real trend</vt:lpstr>
      <vt:lpstr>📈 Demand Pattern ● Order volume changes within the week, with clear peak days.  ⏰ Peak Hours ● Most orders are concentrated in specific hours during the day.  🔥 Operational Load ● Peak days and peak hours combined create the highest pressure on operations.  🔍These peaks are our main focus points for stuff and resources planning</vt:lpstr>
      <vt:lpstr>PowerPoint Presentation</vt:lpstr>
      <vt:lpstr>🤝 Driver Utilization Issue:  ● Overloaded: 111 drivers (10+ long trips &gt;8km) ● Underused: 197 contracted  drivers (≤5 trips in 3 months) → Unbalanced allocation  🐢 Speed Constraint:  ● Avg speed: 9 km/h ● Only 10% of trips &gt; 28 km/h → Heavy traffic impact  🎯 Performance Gap: ● Top drivers: ~99% SLA ● Lowest: near 0% → Need training + better routing </vt:lpstr>
      <vt:lpstr>⚠️ Trips above 8km show significantly lower speeds and a sharp decline in SLA performance.</vt:lpstr>
      <vt:lpstr>PowerPoint Presentation</vt:lpstr>
      <vt:lpstr>PowerPoint Presentation</vt:lpstr>
      <vt:lpstr>key insights and 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Elsharkawy</dc:creator>
  <cp:lastModifiedBy>ali Elsharkawy</cp:lastModifiedBy>
  <cp:revision>10</cp:revision>
  <dcterms:created xsi:type="dcterms:W3CDTF">2026-03-30T05:44:53Z</dcterms:created>
  <dcterms:modified xsi:type="dcterms:W3CDTF">2026-04-06T08:42:32Z</dcterms:modified>
</cp:coreProperties>
</file>